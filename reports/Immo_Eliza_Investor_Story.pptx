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452" autoAdjust="0"/>
  </p:normalViewPr>
  <p:slideViewPr>
    <p:cSldViewPr snapToGrid="0" snapToObjects="1">
      <p:cViewPr varScale="1">
        <p:scale>
          <a:sx n="100" d="100"/>
          <a:sy n="100" d="100"/>
        </p:scale>
        <p:origin x="154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463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1 · 0:15] Welcome. Immo Eliza wants to be Belgium's #1 real-estate services provider. Today: a market read for one client — the buy-to-let investor — ending with exactly where and what to buy for the best total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1 · 0:05] Hand-off into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1 · 0:55] Meet Léa, our investor. Her rule: yield = rent ÷ price. But a cheap rental that never appreciates is a trap — so we judge every area on TOTAL ROI: rent today plus value tomorrow. Two questions frame the deck: what drives price, and where/what to buy.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11AA9-B12F-537E-5E19-21787394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8CFAC-03D1-9319-D37C-EC990E5585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F43AF-03A8-CE8E-68FD-F4A551B25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1 · 1:20] Correlation of every feature with price (houses left, flats right). The hot band is size &amp; sanitary rooms — living area, bathrooms, bedrooms, toilets. Location matters; most amenities barely move price. So 'value' = a well-sized home in the right place. Hand to Maha for where that plays out.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07932-D695-1FE9-4038-C07F76E8F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66488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2 · 0:05] Section 2 —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1 · 1:20] Correlation of every feature with price (houses left, flats right). The hot band is size &amp; sanitary rooms — living area, bathrooms, bedrooms, toilets. Location matters; most amenities barely move price. So 'value' = a well-sized home in the right place. Hand to Maha for where that plays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[Presenter 2 · 1:35] Left: house vs flat prices in the five biggest markets — Brussels is in a league of its own (house median ~€895K) while Charleroi houses sit near €169K. Right: Brussels is also the deepest market by far (3,516 listings). For an investor, the cheap provincial markets are the interesting ones — remember that for the yield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2 · 1:25] Energy efficiency tracks price almost perfectly: high-efficiency homes ~€3.2K/m², low ~€2.0K/m² (left); rating by rating it runs from ~€3.4K at A to ~€1.8K at G — roughly a 90% premium (right). Investor angle: a cheaper low-EPC property lifts gross yield today and offers renovation upside as efficiency rules tighten. Over to Alex.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3 · 0:05] Section 3 — the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3 · 1:15] Gross yield = rent ÷ price, per municipality. It spans ~3% to 7.5%. The top is Walloon industrial cities and outer-Brussels communes (cheap to buy, decent rents); the bottom is affluent Brussels. So yield alone already points to Wallonia.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3 · 0:55] The second engine of return: prices. Houses and flats by region, last 5 years plus a 5-year projection. Belgian prices rose ~71% over 15 years, about 3.6%/yr. Levels differ a lot by region. Yield tells you income; this tells you capital gain. Now combine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3 · 1:20] Putting it together. Left: every municipality on yield (x) vs appreciation (y), coloured by total ROI — top-right is the sweet spot. Right: the same total ROI on the map of Belgium — the greenest municipalities are the best buys. Both point to affordable Walloon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[Presenter 3 · 0:55] The answer for Léa: the best 10-year total ROI is in affordable Walloon houses where strong yield meets steady appreciation — led by Vresse-sur-Semois, Florennes and Virton (140–165% total ROI). Caveat: these are small markets, so check liquidity; larger cities like Charleroi and Namur also rank well. Everything is explorable in the interactive dashboard.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[All · 0:05]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4572000"/>
            <a:ext cx="2011680" cy="82296"/>
          </a:xfrm>
          <a:prstGeom prst="rect">
            <a:avLst/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FB3FF"/>
                </a:solidFill>
                <a:latin typeface="Calibri"/>
              </a:rPr>
              <a:t>IMMO ELIZA  ·  BELGIAN RESIDENTIAL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Calibri Light"/>
              </a:rPr>
              <a:t>Where — and what — to buy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Calibri Light"/>
              </a:rPr>
              <a:t>for the best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C8D6F0"/>
                </a:solidFill>
                <a:latin typeface="Calibri"/>
              </a:rPr>
              <a:t>A data-driven guide for the buy-to-let investor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FE0B0"/>
                </a:solidFill>
                <a:latin typeface="Calibri"/>
              </a:rPr>
              <a:t>18,686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C8"/>
                </a:solidFill>
                <a:latin typeface="Calibri"/>
              </a:rPr>
              <a:t>listings analysed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55778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FE0B0"/>
                </a:solidFill>
                <a:latin typeface="Calibri"/>
              </a:rPr>
              <a:t>565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C8"/>
                </a:solidFill>
                <a:latin typeface="Calibri"/>
              </a:rPr>
              <a:t>municipalities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55778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6FE0B0"/>
                </a:solidFill>
                <a:latin typeface="Calibri"/>
              </a:rPr>
              <a:t>Yield + Growth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0C8"/>
                </a:solidFill>
                <a:latin typeface="Calibri"/>
              </a:rPr>
              <a:t>= total 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79" y="365760"/>
            <a:ext cx="4023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22000" b="1" i="0">
                <a:solidFill>
                  <a:srgbClr val="1E2C4E"/>
                </a:solidFill>
                <a:latin typeface="Calibri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82880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THE CLIENT &amp; THE VALUE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92608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Who we're advising, and what drives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1">
                <a:solidFill>
                  <a:srgbClr val="C8D6F0"/>
                </a:solidFill>
                <a:latin typeface="Calibri"/>
              </a:rPr>
              <a:t>What makes a Belgian property valuable?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69280"/>
            <a:ext cx="4206240" cy="548640"/>
          </a:xfrm>
          <a:prstGeom prst="roundRect">
            <a:avLst>
              <a:gd name="adj" fmla="val 40000"/>
            </a:avLst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801978"/>
            <a:ext cx="384048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Presenter:  </a:t>
            </a:r>
            <a:r>
              <a:rPr lang="nl-BE" sz="1300" b="1" dirty="0">
                <a:solidFill>
                  <a:srgbClr val="FFFFFF"/>
                </a:solidFill>
                <a:latin typeface="Calibri"/>
              </a:rPr>
              <a:t>Maha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SECTION 1 · THE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Meet the investor we're advising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Stéphane   ·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475488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4754880" cy="9144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LÉA  ·  42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Buy-to-let property investor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160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GOAL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540"/>
                </a:solidFill>
                <a:latin typeface="Calibri"/>
              </a:rPr>
              <a:t>Grow her capital by buying property to rent out.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DECISION RULE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540"/>
                </a:solidFill>
                <a:latin typeface="Calibri"/>
              </a:rPr>
              <a:t>Yield = rent ÷ buy price. The cheaper the buy versus the rent it earns, the better.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PAIN POINT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540"/>
                </a:solidFill>
                <a:latin typeface="Calibri"/>
              </a:rPr>
              <a:t>A great rental can still be a poor investment if its value stalls.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5544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1A2540"/>
                </a:solidFill>
                <a:latin typeface="Calibri"/>
              </a:rPr>
              <a:t>“Therefore the yield — how the buying price relates to the rent price — is decisive.”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A6A86"/>
                </a:solidFill>
                <a:latin typeface="Calibri"/>
              </a:rPr>
              <a:t>— Immo Eliza customer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971800"/>
            <a:ext cx="5879592" cy="1371600"/>
          </a:xfrm>
          <a:prstGeom prst="roundRect">
            <a:avLst>
              <a:gd name="adj" fmla="val 5000"/>
            </a:avLst>
          </a:prstGeom>
          <a:solidFill>
            <a:srgbClr val="F5F8FD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3108960"/>
            <a:ext cx="5394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2540"/>
                </a:solidFill>
                <a:latin typeface="Calibri"/>
              </a:rPr>
              <a:t>So we answer two things for Léa: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540"/>
                </a:solidFill>
                <a:latin typeface="Calibri"/>
              </a:rPr>
              <a:t>1.  What makes a property valuable?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A2540"/>
                </a:solidFill>
                <a:latin typeface="Calibri"/>
              </a:rPr>
              <a:t>2.  Where &amp; what gives the best TOTAL return = rental yield + price growth?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4572000"/>
            <a:ext cx="5879592" cy="1234440"/>
          </a:xfrm>
          <a:prstGeom prst="roundRect">
            <a:avLst>
              <a:gd name="adj" fmla="val 6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4663440"/>
            <a:ext cx="542239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We rank every Belgian municipality on total ROI — rent today plus value tomorrow — so Léa knows exactly where, and what, to buy.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B7BCA-D8F4-2170-CBC8-149CE7F6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F506A-DA48-F027-D8F3-CC458B9F885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11F86-D8F0-F4BE-6565-8BC43D61CB12}"/>
              </a:ext>
            </a:extLst>
          </p:cNvPr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SECTION 1 · PRICE DRIVERS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0B641-E3F9-6490-3D74-7BB214A0EFA6}"/>
              </a:ext>
            </a:extLst>
          </p:cNvPr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What actually drives a property's price?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E7AF0-7B86-EB7E-E560-C9FE455FF09B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3E725-CE71-7B05-6D29-0804CE56E877}"/>
              </a:ext>
            </a:extLst>
          </p:cNvPr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Stéphane   ·   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517789F-B9A0-F7F0-63DF-6339BEDE404D}"/>
              </a:ext>
            </a:extLst>
          </p:cNvPr>
          <p:cNvSpPr/>
          <p:nvPr/>
        </p:nvSpPr>
        <p:spPr>
          <a:xfrm>
            <a:off x="475488" y="1664207"/>
            <a:ext cx="7735824" cy="39410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eatmap_After_cleaning.png">
            <a:extLst>
              <a:ext uri="{FF2B5EF4-FFF2-40B4-BE49-F238E27FC236}">
                <a16:creationId xmlns:a16="http://schemas.microsoft.com/office/drawing/2014/main" id="{3C77311D-E406-6DB4-D1AE-2B84B7E53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7589520" cy="379476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1121E8-1F98-90DA-F221-42AB4B355CFD}"/>
              </a:ext>
            </a:extLst>
          </p:cNvPr>
          <p:cNvSpPr/>
          <p:nvPr/>
        </p:nvSpPr>
        <p:spPr>
          <a:xfrm>
            <a:off x="8412480" y="1417320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E6E3F-D71D-353B-F4AD-8F3415342F58}"/>
              </a:ext>
            </a:extLst>
          </p:cNvPr>
          <p:cNvSpPr txBox="1"/>
          <p:nvPr/>
        </p:nvSpPr>
        <p:spPr>
          <a:xfrm>
            <a:off x="8485632" y="1472184"/>
            <a:ext cx="309981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Living area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A6A86"/>
                </a:solidFill>
                <a:latin typeface="Calibri"/>
              </a:rPr>
              <a:t>strongest price driver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27F0F3F-8390-127B-41D6-2509CF29E0B3}"/>
              </a:ext>
            </a:extLst>
          </p:cNvPr>
          <p:cNvSpPr/>
          <p:nvPr/>
        </p:nvSpPr>
        <p:spPr>
          <a:xfrm>
            <a:off x="8412480" y="2404872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F9792-2750-CEBA-E6A2-6B0CA7361EAF}"/>
              </a:ext>
            </a:extLst>
          </p:cNvPr>
          <p:cNvSpPr txBox="1"/>
          <p:nvPr/>
        </p:nvSpPr>
        <p:spPr>
          <a:xfrm>
            <a:off x="8485632" y="2459736"/>
            <a:ext cx="309981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Bathrooms · Bedrooms · Toilets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A6A86"/>
                </a:solidFill>
                <a:latin typeface="Calibri"/>
              </a:rPr>
              <a:t>size of the home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07AE675-14FB-BE64-A7B6-08313C055C50}"/>
              </a:ext>
            </a:extLst>
          </p:cNvPr>
          <p:cNvSpPr/>
          <p:nvPr/>
        </p:nvSpPr>
        <p:spPr>
          <a:xfrm>
            <a:off x="8412480" y="3392424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4FC42-36EC-8B64-AE4F-E4C78FE2AD46}"/>
              </a:ext>
            </a:extLst>
          </p:cNvPr>
          <p:cNvSpPr txBox="1"/>
          <p:nvPr/>
        </p:nvSpPr>
        <p:spPr>
          <a:xfrm>
            <a:off x="8485632" y="3447288"/>
            <a:ext cx="309981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Location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A6A86"/>
                </a:solidFill>
                <a:latin typeface="Calibri"/>
              </a:rPr>
              <a:t>postal code &amp; cadastral income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2041840-C5F9-7781-B98C-836B3FDF653E}"/>
              </a:ext>
            </a:extLst>
          </p:cNvPr>
          <p:cNvSpPr/>
          <p:nvPr/>
        </p:nvSpPr>
        <p:spPr>
          <a:xfrm>
            <a:off x="8412480" y="4425696"/>
            <a:ext cx="3246120" cy="1609343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030C79-FEDB-3666-90D8-DAB2C12A75D7}"/>
              </a:ext>
            </a:extLst>
          </p:cNvPr>
          <p:cNvSpPr txBox="1"/>
          <p:nvPr/>
        </p:nvSpPr>
        <p:spPr>
          <a:xfrm>
            <a:off x="8641080" y="4517136"/>
            <a:ext cx="2788920" cy="14264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Size &amp; sanitary rooms — living area, bathrooms, bedrooms, toilets — drive price most; location next. Amenities barely move it.</a:t>
            </a:r>
          </a:p>
        </p:txBody>
      </p:sp>
    </p:spTree>
    <p:extLst>
      <p:ext uri="{BB962C8B-B14F-4D97-AF65-F5344CB8AC3E}">
        <p14:creationId xmlns:p14="http://schemas.microsoft.com/office/powerpoint/2010/main" val="149892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79" y="365760"/>
            <a:ext cx="4023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22000" b="1" i="0">
                <a:solidFill>
                  <a:srgbClr val="1E2C4E"/>
                </a:solidFill>
                <a:latin typeface="Calibr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828800" cy="91440"/>
          </a:xfrm>
          <a:prstGeom prst="rect">
            <a:avLst/>
          </a:prstGeom>
          <a:solidFill>
            <a:srgbClr val="0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E7FA6"/>
                </a:solidFill>
                <a:latin typeface="Calibri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92608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Prices, supply &amp; energy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1">
                <a:solidFill>
                  <a:srgbClr val="C8D6F0"/>
                </a:solidFill>
                <a:latin typeface="Calibri"/>
              </a:rPr>
              <a:t>Where is value concentrated — and what commands a premium?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69280"/>
            <a:ext cx="4206240" cy="548640"/>
          </a:xfrm>
          <a:prstGeom prst="roundRect">
            <a:avLst>
              <a:gd name="adj" fmla="val 40000"/>
            </a:avLst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801978"/>
            <a:ext cx="384048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Presenter:  </a:t>
            </a:r>
            <a:r>
              <a:rPr lang="nl-BE" sz="1300" b="1" dirty="0">
                <a:solidFill>
                  <a:srgbClr val="FFFFFF"/>
                </a:solidFill>
                <a:latin typeface="Calibri"/>
              </a:rPr>
              <a:t>Alex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SECTION 1 · PRICE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What actually drives a property's price?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Stéphane   ·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664207"/>
            <a:ext cx="7735824" cy="39410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0" y="1417320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1" y="1645583"/>
            <a:ext cx="3099815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900" b="1" dirty="0">
                <a:solidFill>
                  <a:srgbClr val="2563EB"/>
                </a:solidFill>
                <a:latin typeface="Calibri"/>
              </a:rPr>
              <a:t>5 urban area on the market</a:t>
            </a:r>
            <a:endParaRPr sz="1000" b="0" i="0" dirty="0">
              <a:solidFill>
                <a:srgbClr val="5A6A86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12480" y="2404872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13066" y="2331720"/>
            <a:ext cx="3099814" cy="11490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900" b="1" i="0" dirty="0">
                <a:solidFill>
                  <a:srgbClr val="2563EB"/>
                </a:solidFill>
                <a:latin typeface="Calibri"/>
              </a:rPr>
              <a:t>Total properties in the area of 5 cities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900" b="1" dirty="0">
                <a:solidFill>
                  <a:srgbClr val="2563EB"/>
                </a:solidFill>
                <a:latin typeface="Calibri"/>
              </a:rPr>
              <a:t>6,712</a:t>
            </a:r>
            <a:endParaRPr sz="1900" b="1" i="0" dirty="0">
              <a:solidFill>
                <a:srgbClr val="2563EB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endParaRPr sz="1000" b="0" i="0" dirty="0">
              <a:solidFill>
                <a:srgbClr val="5A6A86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12480" y="3392424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3375581"/>
            <a:ext cx="3099815" cy="8566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900" b="1" dirty="0">
                <a:solidFill>
                  <a:srgbClr val="2563EB"/>
                </a:solidFill>
                <a:latin typeface="Calibri"/>
              </a:rPr>
              <a:t>Apartments: 4,280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900" b="1" i="0" dirty="0">
                <a:solidFill>
                  <a:srgbClr val="2563EB"/>
                </a:solidFill>
                <a:latin typeface="Calibri"/>
              </a:rPr>
              <a:t>Houses:2,432</a:t>
            </a:r>
            <a:endParaRPr sz="1900" b="1" i="0" dirty="0">
              <a:solidFill>
                <a:srgbClr val="2563EB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endParaRPr sz="1000" b="0" i="0" dirty="0">
              <a:solidFill>
                <a:srgbClr val="5A6A86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80" y="4425696"/>
            <a:ext cx="3246120" cy="1609343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4517136"/>
            <a:ext cx="2788920" cy="14264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Size &amp; sanitary rooms — living area, bathrooms, bedrooms, toilets — drive price most; location next. Amenities barely move it.</a:t>
            </a:r>
          </a:p>
        </p:txBody>
      </p:sp>
      <p:pic>
        <p:nvPicPr>
          <p:cNvPr id="17" name="Picture 16" descr="Stackedbar_topcities.png">
            <a:extLst>
              <a:ext uri="{FF2B5EF4-FFF2-40B4-BE49-F238E27FC236}">
                <a16:creationId xmlns:a16="http://schemas.microsoft.com/office/drawing/2014/main" id="{1A51A4AD-A63F-6FC0-91BC-D1AA375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1645919"/>
            <a:ext cx="6545275" cy="3927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7FA6"/>
                </a:solidFill>
                <a:latin typeface="Calibri"/>
              </a:rPr>
              <a:t>SECTION 2 · THE MARKET BY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Brussels is deepest &amp; priciest — the provinces are where yield hides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Maha   ·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721358"/>
            <a:ext cx="5678424" cy="29123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oxplot_topcities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94510"/>
            <a:ext cx="5532120" cy="27660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0488" y="1444752"/>
            <a:ext cx="5678424" cy="34655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0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6344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Brussels dominates price AND supply (3,516 listings; houses ~€895K). Provincial cities are far cheaper — Charleroi houses ~€169K — and cheap-to-buy is where high yield lives.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C8A1A1-72F2-C842-C687-9D29AFB86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705356"/>
            <a:ext cx="5678424" cy="2839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9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0901F"/>
                </a:solidFill>
                <a:latin typeface="Calibri"/>
              </a:rPr>
              <a:t>SECTION 2 · ENERGY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Energy rating is priced in — and it's a lever for investors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Maha   ·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446803"/>
            <a:ext cx="5678424" cy="3461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pc_combined_efficiency_price_per_sq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19955"/>
            <a:ext cx="5532120" cy="33151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0488" y="1724847"/>
            <a:ext cx="5678424" cy="29053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pc_individual_efficiency_price_per_sq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97999"/>
            <a:ext cx="5532120" cy="2759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E09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6344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Top-rated homes fetch ~€3.4K/m² vs ~€1.8K/m² for the worst — a ~90% premium. Cheap, low-EPC stock = higher gross yield now, with renovation upside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79" y="365760"/>
            <a:ext cx="4023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22000" b="1" i="0">
                <a:solidFill>
                  <a:srgbClr val="1E2C4E"/>
                </a:solidFill>
                <a:latin typeface="Calibr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828800" cy="91440"/>
          </a:xfrm>
          <a:prstGeom prst="rect">
            <a:avLst/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A8F4F"/>
                </a:solidFill>
                <a:latin typeface="Calibri"/>
              </a:rPr>
              <a:t>THE INVESTOR'S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92608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From rental yield to total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1">
                <a:solidFill>
                  <a:srgbClr val="C8D6F0"/>
                </a:solidFill>
                <a:latin typeface="Calibri"/>
              </a:rPr>
              <a:t>Where — and what — delivers the best total return over time?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69280"/>
            <a:ext cx="4206240" cy="548640"/>
          </a:xfrm>
          <a:prstGeom prst="roundRect">
            <a:avLst>
              <a:gd name="adj" fmla="val 40000"/>
            </a:avLst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801978"/>
            <a:ext cx="384048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Presenter:  </a:t>
            </a:r>
            <a:r>
              <a:rPr lang="nl-BE" sz="1300" b="1" dirty="0">
                <a:solidFill>
                  <a:srgbClr val="FFFFFF"/>
                </a:solidFill>
                <a:latin typeface="Calibri"/>
              </a:rPr>
              <a:t>Stephane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8F4F"/>
                </a:solidFill>
                <a:latin typeface="Calibri"/>
              </a:rPr>
              <a:t>SECTION 3 · RENTAL YIELD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Gross rental yield: 3% in Brussels to 7.5% in Wallonia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Alex   · 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6638" y="1298448"/>
            <a:ext cx="5673522" cy="46725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yieldinsight_by_municip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790" y="1371600"/>
            <a:ext cx="5527218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417320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2" y="1472184"/>
            <a:ext cx="309981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A8F4F"/>
                </a:solidFill>
                <a:latin typeface="Calibri"/>
              </a:rPr>
              <a:t>up to ~7.5%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A6A86"/>
                </a:solidFill>
                <a:latin typeface="Calibri"/>
              </a:rPr>
              <a:t>best (e.g. Verviers)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404872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2459736"/>
            <a:ext cx="309981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A8F4F"/>
                </a:solidFill>
                <a:latin typeface="Calibri"/>
              </a:rPr>
              <a:t>6.8%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A6A86"/>
                </a:solidFill>
                <a:latin typeface="Calibri"/>
              </a:rPr>
              <a:t>Charleroi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392424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3447288"/>
            <a:ext cx="309981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A8F4F"/>
                </a:solidFill>
                <a:latin typeface="Calibri"/>
              </a:rPr>
              <a:t>~5.4% / ~3.2%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A6A86"/>
                </a:solidFill>
                <a:latin typeface="Calibri"/>
              </a:rPr>
              <a:t>national / affluent Brussels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425696"/>
            <a:ext cx="3246120" cy="1609343"/>
          </a:xfrm>
          <a:prstGeom prst="roundRect">
            <a:avLst>
              <a:gd name="adj" fmla="val 6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4517136"/>
            <a:ext cx="2788920" cy="14264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Best yields are in affordable Walloon cities and outer-Brussels; affluent central Brussels yields least.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8F4F"/>
                </a:solidFill>
                <a:latin typeface="Calibri"/>
              </a:rPr>
              <a:t>SECTION 3 · CAPITAL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But yield isn't everything — prices also appreciate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Alex   ·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683856"/>
            <a:ext cx="7735824" cy="390176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ice_evolution_by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7008"/>
            <a:ext cx="7589520" cy="375546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417320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2" y="1472184"/>
            <a:ext cx="309981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A8F4F"/>
                </a:solidFill>
                <a:latin typeface="Calibri"/>
              </a:rPr>
              <a:t>+71%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A6A86"/>
                </a:solidFill>
                <a:latin typeface="Calibri"/>
              </a:rPr>
              <a:t>2010 →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404872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2459736"/>
            <a:ext cx="309981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A8F4F"/>
                </a:solidFill>
                <a:latin typeface="Calibri"/>
              </a:rPr>
              <a:t>~3.6%/yr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A6A86"/>
                </a:solidFill>
                <a:latin typeface="Calibri"/>
              </a:rPr>
              <a:t>long-run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392424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3447288"/>
            <a:ext cx="309981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A8F4F"/>
                </a:solidFill>
                <a:latin typeface="Calibri"/>
              </a:rPr>
              <a:t>€558K / €247K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A6A86"/>
                </a:solidFill>
                <a:latin typeface="Calibri"/>
              </a:rPr>
              <a:t>Brussels / Wallonia house,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425696"/>
            <a:ext cx="3246120" cy="1609343"/>
          </a:xfrm>
          <a:prstGeom prst="roundRect">
            <a:avLst>
              <a:gd name="adj" fmla="val 6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4517136"/>
            <a:ext cx="2788920" cy="14264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Prices rose ~71% in 15 years (~3.6%/yr). Where you buy shapes the capital gain too — so combine both forces.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8F4F"/>
                </a:solidFill>
                <a:latin typeface="Calibri"/>
              </a:rPr>
              <a:t>SECTION 3 · TOTAL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Total ROI = rental yield + price appreciation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Alex   · 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8182" y="1298448"/>
            <a:ext cx="3473035" cy="3758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yield_vs_apprec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334" y="1371600"/>
            <a:ext cx="3326731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14891" y="1298448"/>
            <a:ext cx="3229616" cy="3758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oi_map_by_municip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043" y="1371600"/>
            <a:ext cx="3083312" cy="3611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63447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 winners sit top-right — high yield AND high growth — and they cluster in affordable Walloon markets. Greener on the map = better total ROI.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8F4F"/>
                </a:solidFill>
                <a:latin typeface="Calibri"/>
              </a:rPr>
              <a:t>SECTION 3 ·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Where &amp; what to buy for the best total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Alex   ·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A86"/>
                </a:solidFill>
                <a:latin typeface="Calibri"/>
              </a:rPr>
              <a:t>Top 5 municipality + property type by 10-year total ROI (rental yield + historical-trend appreciation)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7680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2920" cy="713232"/>
          </a:xfrm>
          <a:prstGeom prst="roundRect">
            <a:avLst>
              <a:gd name="adj" fmla="val 8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83664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540"/>
                </a:solidFill>
                <a:latin typeface="Calibri"/>
              </a:rPr>
              <a:t>Vresse-sur-Semois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A6A86"/>
                </a:solidFill>
                <a:latin typeface="Calibri"/>
              </a:rPr>
              <a:t>House · Wallonia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828800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A8F4F"/>
                </a:solidFill>
                <a:latin typeface="Calibri"/>
              </a:rPr>
              <a:t>166%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1417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A6A86"/>
                </a:solidFill>
                <a:latin typeface="Calibri"/>
              </a:rPr>
              <a:t>yield 8.6% · +6.0%/yr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51760"/>
            <a:ext cx="7680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502920" cy="713232"/>
          </a:xfrm>
          <a:prstGeom prst="roundRect">
            <a:avLst>
              <a:gd name="adj" fmla="val 8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502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06624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540"/>
                </a:solidFill>
                <a:latin typeface="Calibri"/>
              </a:rPr>
              <a:t>Florennes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A6A86"/>
                </a:solidFill>
                <a:latin typeface="Calibri"/>
              </a:rPr>
              <a:t>House · Wallonia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651760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A8F4F"/>
                </a:solidFill>
                <a:latin typeface="Calibri"/>
              </a:rPr>
              <a:t>164%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651760"/>
            <a:ext cx="1417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A6A86"/>
                </a:solidFill>
                <a:latin typeface="Calibri"/>
              </a:rPr>
              <a:t>yield 9.0% · +5.7%/yr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7680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3474720"/>
            <a:ext cx="502920" cy="713232"/>
          </a:xfrm>
          <a:prstGeom prst="roundRect">
            <a:avLst>
              <a:gd name="adj" fmla="val 8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474720"/>
            <a:ext cx="502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29584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540"/>
                </a:solidFill>
                <a:latin typeface="Calibri"/>
              </a:rPr>
              <a:t>Virton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A6A86"/>
                </a:solidFill>
                <a:latin typeface="Calibri"/>
              </a:rPr>
              <a:t>House · Wallonia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474720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A8F4F"/>
                </a:solidFill>
                <a:latin typeface="Calibri"/>
              </a:rPr>
              <a:t>152%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474720"/>
            <a:ext cx="1417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A6A86"/>
                </a:solidFill>
                <a:latin typeface="Calibri"/>
              </a:rPr>
              <a:t>yield 7.2% · +6.0%/yr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97680"/>
            <a:ext cx="7680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4297680"/>
            <a:ext cx="502920" cy="713232"/>
          </a:xfrm>
          <a:prstGeom prst="roundRect">
            <a:avLst>
              <a:gd name="adj" fmla="val 8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297680"/>
            <a:ext cx="502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352544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540"/>
                </a:solidFill>
                <a:latin typeface="Calibri"/>
              </a:rPr>
              <a:t>Cerfontaine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A6A86"/>
                </a:solidFill>
                <a:latin typeface="Calibri"/>
              </a:rPr>
              <a:t>House · Wallonia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297680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A8F4F"/>
                </a:solidFill>
                <a:latin typeface="Calibri"/>
              </a:rPr>
              <a:t>142%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97680"/>
            <a:ext cx="1417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A6A86"/>
                </a:solidFill>
                <a:latin typeface="Calibri"/>
              </a:rPr>
              <a:t>yield 9.0% · +4.3%/yr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20640"/>
            <a:ext cx="7680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48640" y="5120640"/>
            <a:ext cx="502920" cy="713232"/>
          </a:xfrm>
          <a:prstGeom prst="roundRect">
            <a:avLst>
              <a:gd name="adj" fmla="val 8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502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175504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540"/>
                </a:solidFill>
                <a:latin typeface="Calibri"/>
              </a:rPr>
              <a:t>Momignies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A6A86"/>
                </a:solidFill>
                <a:latin typeface="Calibri"/>
              </a:rPr>
              <a:t>House · Wallonia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120640"/>
            <a:ext cx="1554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A8F4F"/>
                </a:solidFill>
                <a:latin typeface="Calibri"/>
              </a:rPr>
              <a:t>142%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120640"/>
            <a:ext cx="1417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A6A86"/>
                </a:solidFill>
                <a:latin typeface="Calibri"/>
              </a:rPr>
              <a:t>yield 9.0% · +4.3%/yr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182880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41080" y="1920240"/>
            <a:ext cx="27889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Buy affordable HOUSES in high-yield, steadily-appreciating Walloon markets — then check liquidity before committing.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438912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5F8FD"/>
          </a:solidFill>
          <a:ln w="12700">
            <a:solidFill>
              <a:srgbClr val="DD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41080" y="4526280"/>
            <a:ext cx="2834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A8F4F"/>
                </a:solidFill>
                <a:latin typeface="Calibri"/>
              </a:rPr>
              <a:t>EXPLORE LIVE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A2540"/>
                </a:solidFill>
                <a:latin typeface="Calibri"/>
              </a:rPr>
              <a:t>Interactive dashboard with drill-down by region, city &amp; horizon: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reports/totalroi.html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A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C8D6F0"/>
                </a:solidFill>
                <a:latin typeface="Calibri"/>
              </a:rPr>
              <a:t>Total ROI = rental yield  +  property-value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FE0B0"/>
                </a:solidFill>
                <a:latin typeface="Calibri"/>
              </a:rPr>
              <a:t>Explore every municipality:  reports/totalroi.html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9FB0C8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743200"/>
            <a:ext cx="1828800" cy="91440"/>
          </a:xfrm>
          <a:prstGeom prst="rect">
            <a:avLst/>
          </a:prstGeom>
          <a:solidFill>
            <a:srgbClr val="5A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8D6F0"/>
                </a:solidFill>
                <a:latin typeface="Calibri"/>
              </a:rPr>
              <a:t>Supporting detail charts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A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A6A86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Yield by distance band — all 30 nearest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—   ·   A2</a:t>
            </a:r>
          </a:p>
        </p:txBody>
      </p:sp>
      <p:pic>
        <p:nvPicPr>
          <p:cNvPr id="7" name="Picture 6" descr="cityregional_distance_band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3813"/>
            <a:ext cx="3515258" cy="2227293"/>
          </a:xfrm>
          <a:prstGeom prst="rect">
            <a:avLst/>
          </a:prstGeom>
        </p:spPr>
      </p:pic>
      <p:pic>
        <p:nvPicPr>
          <p:cNvPr id="8" name="Picture 7" descr="cityregional_distance_bands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340" y="1417320"/>
            <a:ext cx="3512134" cy="2240279"/>
          </a:xfrm>
          <a:prstGeom prst="rect">
            <a:avLst/>
          </a:prstGeom>
        </p:spPr>
      </p:pic>
      <p:pic>
        <p:nvPicPr>
          <p:cNvPr id="9" name="Picture 8" descr="cityregional_distance_bands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478" y="1417320"/>
            <a:ext cx="3512134" cy="2240279"/>
          </a:xfrm>
          <a:prstGeom prst="rect">
            <a:avLst/>
          </a:prstGeom>
        </p:spPr>
      </p:pic>
      <p:pic>
        <p:nvPicPr>
          <p:cNvPr id="10" name="Picture 9" descr="cityregional_distance_bands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02" y="3840480"/>
            <a:ext cx="3512134" cy="2240279"/>
          </a:xfrm>
          <a:prstGeom prst="rect">
            <a:avLst/>
          </a:prstGeom>
        </p:spPr>
      </p:pic>
      <p:pic>
        <p:nvPicPr>
          <p:cNvPr id="11" name="Picture 10" descr="cityregional_distance_bands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0150" y="3840480"/>
            <a:ext cx="3488513" cy="22402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A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A6A86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540"/>
                </a:solidFill>
                <a:latin typeface="Calibri"/>
              </a:rPr>
              <a:t>Supporting market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Immo Eliza · Belgian residential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55664"/>
            <a:ext cx="3410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A86"/>
                </a:solidFill>
                <a:latin typeface="Calibri"/>
              </a:rPr>
              <a:t>—   ·   A3</a:t>
            </a:r>
          </a:p>
        </p:txBody>
      </p:sp>
      <p:pic>
        <p:nvPicPr>
          <p:cNvPr id="7" name="Picture 6" descr="cityregiona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5290"/>
            <a:ext cx="5364327" cy="2527499"/>
          </a:xfrm>
          <a:prstGeom prst="rect">
            <a:avLst/>
          </a:prstGeom>
        </p:spPr>
      </p:pic>
      <p:pic>
        <p:nvPicPr>
          <p:cNvPr id="8" name="Picture 7" descr="Boxplot_topcities_per_sq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2407958"/>
            <a:ext cx="5364327" cy="26821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1644</Words>
  <Application>Microsoft Macintosh PowerPoint</Application>
  <PresentationFormat>Widescreen</PresentationFormat>
  <Paragraphs>172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JeongHwan Kim</dc:creator>
  <cp:keywords/>
  <dc:description>generated using python-pptx</dc:description>
  <cp:lastModifiedBy>Stephane van der Aa</cp:lastModifiedBy>
  <cp:revision>3</cp:revision>
  <dcterms:created xsi:type="dcterms:W3CDTF">2013-01-27T09:14:16Z</dcterms:created>
  <dcterms:modified xsi:type="dcterms:W3CDTF">2026-06-25T11:44:01Z</dcterms:modified>
  <cp:category/>
</cp:coreProperties>
</file>